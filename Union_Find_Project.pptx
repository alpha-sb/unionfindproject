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7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4" r:id="rId10"/>
    <p:sldId id="275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7BA35-F722-2C83-4D29-C734B7A24121}" v="113" dt="2025-12-01T14:44:38.958"/>
    <p1510:client id="{3C6F2C42-CC04-60CE-28C9-96CAFD5059E7}" v="2320" dt="2025-12-01T05:24:25.123"/>
    <p1510:client id="{655C79B9-9551-6812-B2AC-982940C8AA0B}" v="2375" dt="2025-12-01T07:20:03.955"/>
    <p1510:client id="{9B0BA7E9-E86F-ABFB-5F73-A51A28A60E89}" v="83" dt="2025-12-01T14:44:5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957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7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732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3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3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7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77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14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5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2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03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D73BEF1-B97F-E419-5080-B3275BC4C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2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Empirical Analysis of Union-Find Structures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118720-5E0A-4CB5-A161-748841B02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5942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John Sutton, Robert Morris, Nolan Schiek, Sawyer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Blanchford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17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D194-43B6-3D3F-3679-5BE3DD8B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29" y="392974"/>
            <a:ext cx="9692640" cy="1325562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59E8-2379-7B0D-DC22-03E4A3BA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229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Why Union-Find Matters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Union-Find tracks which items belong to the same group as the program runs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Essential for algorithms that build or analyze connected components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Appears in major areas: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Kruskal's Minimum Spanning Tree Algorithm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Image Labeling and Segmentation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Percolation &amp; Physics Simulations</a:t>
            </a:r>
          </a:p>
          <a:p>
            <a:pPr marL="571500" lvl="1">
              <a:buFont typeface="Courier New" panose="020B0604020202020204" pitchFamily="34" charset="0"/>
              <a:buChar char="o"/>
            </a:pPr>
            <a:r>
              <a:rPr lang="en-US" sz="1600"/>
              <a:t>Network and Connectivity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5C1EA-7DB1-4F5E-5DE5-C8BEDE9D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7FAEC-27DA-DFFB-98FE-E9028F56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DD26-75A0-6CC3-226B-4C168E0D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323D6-BBDD-1C1C-CB7F-B18534A6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FF09-E64E-444B-024F-7C7581899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72" y="383903"/>
            <a:ext cx="9692640" cy="1325562"/>
          </a:xfrm>
        </p:spPr>
        <p:txBody>
          <a:bodyPr/>
          <a:lstStyle/>
          <a:p>
            <a:r>
              <a:rPr lang="en-US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F21B-3AA7-BDB9-8292-C82AE0642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862" y="1710549"/>
            <a:ext cx="10653579" cy="2264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Objective</a:t>
            </a:r>
            <a:r>
              <a:rPr lang="en-US"/>
              <a:t>:</a:t>
            </a:r>
          </a:p>
          <a:p>
            <a:pPr marL="342900" indent="-342900"/>
            <a:r>
              <a:rPr lang="en-US"/>
              <a:t>Compare two Union-Find implementations:</a:t>
            </a:r>
          </a:p>
          <a:p>
            <a:pPr marL="571500" lvl="1" indent="-342900">
              <a:buFont typeface="Courier New" panose="020B0604020202020204" pitchFamily="34" charset="0"/>
              <a:buChar char="o"/>
            </a:pPr>
            <a:r>
              <a:rPr lang="en-US"/>
              <a:t>List-Based Union-Find using linked lists</a:t>
            </a:r>
          </a:p>
          <a:p>
            <a:pPr marL="571500" lvl="1" indent="-342900">
              <a:buFont typeface="Courier New" panose="020B0604020202020204" pitchFamily="34" charset="0"/>
              <a:buChar char="o"/>
            </a:pPr>
            <a:endParaRPr lang="en-US"/>
          </a:p>
          <a:p>
            <a:pPr marL="571500" lvl="1" indent="-342900">
              <a:buFont typeface="Courier New" panose="020B0604020202020204" pitchFamily="34" charset="0"/>
              <a:buChar char="o"/>
            </a:pPr>
            <a:r>
              <a:rPr lang="en-US"/>
              <a:t>Tree-Based Union-Find using parent pointers</a:t>
            </a:r>
          </a:p>
          <a:p>
            <a:pPr marL="800100" lvl="2" indent="-342900">
              <a:buFont typeface="Wingdings" panose="020B0604020202020204" pitchFamily="34" charset="0"/>
              <a:buChar char="§"/>
            </a:pPr>
            <a:r>
              <a:rPr lang="en-US"/>
              <a:t>Includes enhancements like union-by-size, union-by-rank, and path compression</a:t>
            </a:r>
          </a:p>
          <a:p>
            <a:pPr marL="800100" lvl="2" indent="-342900">
              <a:buFont typeface="Wingdings" panose="020B0604020202020204" pitchFamily="34" charset="0"/>
              <a:buChar char="§"/>
            </a:pPr>
            <a:endParaRPr lang="en-US"/>
          </a:p>
          <a:p>
            <a:pPr marL="457200" lvl="2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DF6B-DB68-D135-7CCF-A54CF529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5FB6-0188-C5E4-3545-D312C24C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B3FC9-1244-0BBC-F3CA-2C9A261B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2EC15-8489-D024-02E7-EE2A00A82A60}"/>
              </a:ext>
            </a:extLst>
          </p:cNvPr>
          <p:cNvSpPr txBox="1"/>
          <p:nvPr/>
        </p:nvSpPr>
        <p:spPr>
          <a:xfrm>
            <a:off x="756889" y="3967663"/>
            <a:ext cx="1065726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Goal:</a:t>
            </a:r>
          </a:p>
          <a:p>
            <a:r>
              <a:rPr lang="en-US"/>
              <a:t>  Measure their empirical performance across multiple workloads and input sizes.</a:t>
            </a:r>
          </a:p>
        </p:txBody>
      </p:sp>
    </p:spTree>
    <p:extLst>
      <p:ext uri="{BB962C8B-B14F-4D97-AF65-F5344CB8AC3E}">
        <p14:creationId xmlns:p14="http://schemas.microsoft.com/office/powerpoint/2010/main" val="238711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15AD-2650-472F-D8B2-04462EBB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16E6-A0B1-9A38-5F85-562DDFFF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3" y="392974"/>
            <a:ext cx="9692640" cy="1325562"/>
          </a:xfrm>
        </p:spPr>
        <p:txBody>
          <a:bodyPr/>
          <a:lstStyle/>
          <a:p>
            <a:r>
              <a:rPr lang="en-US"/>
              <a:t>Union-Find: The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B791-90F0-33F1-CD83-EA6C9365E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43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Three Basic Operations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 err="1"/>
              <a:t>MakeSet</a:t>
            </a:r>
            <a:r>
              <a:rPr lang="en-US" sz="1800"/>
              <a:t>(x): creates a new group containing only x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Find(x): returns the "representative" or ID of the group x belongs to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Union(x, y): merges the two groups containing x and y</a:t>
            </a:r>
          </a:p>
          <a:p>
            <a:pPr marL="0" indent="0">
              <a:buNone/>
            </a:pPr>
            <a:r>
              <a:rPr lang="en-US"/>
              <a:t>Correctness Requirements: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Representatives remain consistent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All nodes in a set eventually link to the same root/head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59D64-F30B-3ACE-8D4C-494BC5E6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CC6-F0D4-4D87-86A4-41B59BC6619D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3CBDE-86EF-54BE-2403-25FB10BC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7C86-AEA2-5027-EC86-F549518A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0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B6C4-A163-7A7C-6F0E-E330D2B4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3" y="392974"/>
            <a:ext cx="9692640" cy="1325562"/>
          </a:xfrm>
        </p:spPr>
        <p:txBody>
          <a:bodyPr/>
          <a:lstStyle/>
          <a:p>
            <a:r>
              <a:rPr lang="en-US"/>
              <a:t>List-Based Union-Find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6B5B-398E-2349-01ED-C7DDE9419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43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Representation: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Each set stored as a linked list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 Weighted union: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Move Smaller list -&gt; Larger list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find(x) = head[x] is O(1)</a:t>
            </a:r>
          </a:p>
          <a:p>
            <a:pPr marL="0" indent="0">
              <a:buNone/>
            </a:pPr>
            <a:r>
              <a:rPr lang="en-US"/>
              <a:t>Expected Performance: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Union(x, y) ≈ O(log(n)) amortized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Total cost ≈ O(m + </a:t>
            </a:r>
            <a:r>
              <a:rPr lang="en-US" err="1"/>
              <a:t>nlog</a:t>
            </a:r>
            <a:r>
              <a:rPr lang="en-US"/>
              <a:t>(n))</a:t>
            </a:r>
          </a:p>
          <a:p>
            <a:pPr marL="0" indent="0">
              <a:buNone/>
            </a:pPr>
            <a:r>
              <a:rPr lang="en-US"/>
              <a:t>Instrumentation: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Parent pointer updates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/>
              <a:t>List movement counts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7D16-661E-3074-268F-B03E9E57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71B0A-3F85-4174-B926-96DC4DCB9F16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02F4-25CF-CF7E-B1A7-D05C4A75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17AC-D264-6A2F-F1CE-145220CD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5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5845-4815-310C-3698-E54733FF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01" y="392974"/>
            <a:ext cx="9692640" cy="1325562"/>
          </a:xfrm>
        </p:spPr>
        <p:txBody>
          <a:bodyPr/>
          <a:lstStyle/>
          <a:p>
            <a:r>
              <a:rPr lang="en-US"/>
              <a:t>Tree-Based Union-Find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8669-3F1F-18E2-01F0-10ED1B05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01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Representation: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Parent pointer for each node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Weighted union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Path compression on finds</a:t>
            </a:r>
          </a:p>
          <a:p>
            <a:pPr marL="0" indent="0">
              <a:buNone/>
            </a:pPr>
            <a:r>
              <a:rPr lang="en-US"/>
              <a:t>Expected Performance: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O((n + m) </a:t>
            </a:r>
            <a:r>
              <a:rPr lang="en-US">
                <a:ea typeface="+mn-lt"/>
                <a:cs typeface="+mn-lt"/>
              </a:rPr>
              <a:t>α(n))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α(n) ≤ 4 for all practical input sizes (inverse Ackermann)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Effectively constant time</a:t>
            </a:r>
          </a:p>
          <a:p>
            <a:pPr marL="0" indent="0">
              <a:buNone/>
            </a:pPr>
            <a:r>
              <a:rPr lang="en-US"/>
              <a:t>Instrumentation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Parent pointer updates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Maximum depth &amp; depth distributions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85734-696A-71D0-0581-4809F91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022BE-C035-4440-86A9-806E2CE37D48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304F-E061-FF82-3ED0-2316D088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450DD-CA75-DD63-D59C-C0FEF52B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1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ECD0-2796-1DA9-149E-F3847C04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92974"/>
            <a:ext cx="9692640" cy="1325562"/>
          </a:xfrm>
        </p:spPr>
        <p:txBody>
          <a:bodyPr/>
          <a:lstStyle/>
          <a:p>
            <a:r>
              <a:rPr lang="en-US"/>
              <a:t>Experiment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37FE8-24BC-CD7D-D5CB-711EA6368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Different Workloads to Test the Structures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Random Workload (50% union / 50% find): Simulates average-case behavior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Random Workload (20% union / 80% find): Simulates more read-heavy scenarios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  <a:p>
            <a:pPr marL="0" indent="0">
              <a:buNone/>
            </a:pPr>
            <a:r>
              <a:rPr lang="en-US"/>
              <a:t>Inputs: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n ∈ {10k, 50k, 100k, 200k}</a:t>
            </a:r>
            <a:endParaRPr lang="en-US" sz="180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m ∈ {n, 5n, 10n}</a:t>
            </a:r>
            <a:endParaRPr lang="en-US" sz="180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DFB02-87CB-9752-ABD7-1BDE2349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2AB0-C94F-4CD5-8A83-7595CE2A7A9E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3BDC7-17C6-8C3E-EF0C-E73678C8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D8447-BF25-0503-BB15-EF3D780E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2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2E0D-03E2-13D4-CFB8-72C22027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65760"/>
            <a:ext cx="9692640" cy="1325562"/>
          </a:xfrm>
        </p:spPr>
        <p:txBody>
          <a:bodyPr/>
          <a:lstStyle/>
          <a:p>
            <a:r>
              <a:rPr lang="en-US"/>
              <a:t>Runtime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D0ECF6-D8BD-76F9-4FF0-A28267143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3723" y="1686890"/>
            <a:ext cx="6040038" cy="39506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FB0D-4C8F-13F9-90B1-E3B19BF0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8D288-A7B1-0814-74BC-B8CB890E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D1503-3C66-895C-443F-EAE39046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9EAE16-4800-4797-B88F-3107A772A324}"/>
              </a:ext>
            </a:extLst>
          </p:cNvPr>
          <p:cNvSpPr txBox="1">
            <a:spLocks/>
          </p:cNvSpPr>
          <p:nvPr/>
        </p:nvSpPr>
        <p:spPr>
          <a:xfrm>
            <a:off x="612647" y="1705506"/>
            <a:ext cx="4387132" cy="4603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Observations: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UF stays nearly flat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UF grows logarithmically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Gap widens as n increases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4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C5D0-8420-A6E7-1F70-9F661326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9E4B-B723-61C2-BDF3-595A2823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83903"/>
            <a:ext cx="9692640" cy="1325562"/>
          </a:xfrm>
        </p:spPr>
        <p:txBody>
          <a:bodyPr/>
          <a:lstStyle/>
          <a:p>
            <a:r>
              <a:rPr lang="en-US"/>
              <a:t>Pointer Update Results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1F1829-28CE-AA79-EA66-A86DEFD1C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1149" y="1725322"/>
            <a:ext cx="5813697" cy="38801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CBD7-4DA0-248D-1627-A46D15F4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88275-3D9A-2DEF-0BDD-CAFC94AD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76D5-B29B-658C-D230-60EA3D54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F936B7-9F6E-F406-4813-A6F5B7DE5F88}"/>
              </a:ext>
            </a:extLst>
          </p:cNvPr>
          <p:cNvSpPr txBox="1">
            <a:spLocks/>
          </p:cNvSpPr>
          <p:nvPr/>
        </p:nvSpPr>
        <p:spPr>
          <a:xfrm>
            <a:off x="612647" y="1705506"/>
            <a:ext cx="4788185" cy="46038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Observations: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pointer updates grow much faster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updates remain small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Path compression eliminates repeated long walks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2BBA-BB7A-04FA-EA30-F341D788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64ED-B474-E492-4961-F682F02E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29" y="311331"/>
            <a:ext cx="9692640" cy="1325562"/>
          </a:xfrm>
        </p:spPr>
        <p:txBody>
          <a:bodyPr/>
          <a:lstStyle/>
          <a:p>
            <a:r>
              <a:rPr lang="en-US"/>
              <a:t>Adversarial Behavior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30958-98BC-D731-0FCD-EBA32B1C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702-1880-4909-B83B-FAA4576D30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E726-6A22-73BE-90F7-23CCEB5B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03B33-A253-8BE5-8320-C8A42A00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6D91D9-0361-C48C-1BB9-BD3EADABC8D7}"/>
              </a:ext>
            </a:extLst>
          </p:cNvPr>
          <p:cNvSpPr txBox="1">
            <a:spLocks/>
          </p:cNvSpPr>
          <p:nvPr/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Adversarial Workload: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Sequential unions(0-1, 1-2, 2-3, …)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Forces deepest possible structure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Useful for exposing worst-case behavior</a:t>
            </a:r>
          </a:p>
          <a:p>
            <a:pPr marL="0" indent="0">
              <a:buNone/>
            </a:pPr>
            <a:r>
              <a:rPr lang="en-US"/>
              <a:t>Results (Runtime):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List-Based UF becomes very slow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Tree-Based UF remains unaffected and fast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1800"/>
              <a:t>Path compression immediately flattens chains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/>
          </a:p>
        </p:txBody>
      </p:sp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2AAA3694-9A68-3BE7-5B85-058F9F40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629" y="1779587"/>
            <a:ext cx="5009243" cy="329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6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C2B4-A454-1C1D-4506-A850F099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58" y="392974"/>
            <a:ext cx="9692640" cy="1325562"/>
          </a:xfrm>
        </p:spPr>
        <p:txBody>
          <a:bodyPr/>
          <a:lstStyle/>
          <a:p>
            <a:r>
              <a:rPr lang="en-US"/>
              <a:t>Application Benchmark: G(n, 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4DD5-632B-6327-014B-A460E9FF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58" y="1828800"/>
            <a:ext cx="5136282" cy="4341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Real-World Graph Workload: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Build connectivity structure in </a:t>
            </a:r>
            <a:r>
              <a:rPr lang="en-US" sz="1800">
                <a:ea typeface="+mn-lt"/>
                <a:cs typeface="+mn-lt"/>
              </a:rPr>
              <a:t>Erdős–Rényi G(</a:t>
            </a:r>
            <a:r>
              <a:rPr lang="en-US" sz="1800" err="1">
                <a:ea typeface="+mn-lt"/>
                <a:cs typeface="+mn-lt"/>
              </a:rPr>
              <a:t>n,p</a:t>
            </a:r>
            <a:r>
              <a:rPr lang="en-US" sz="1800">
                <a:ea typeface="+mn-lt"/>
                <a:cs typeface="+mn-lt"/>
              </a:rPr>
              <a:t>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Perform random connectivity queries</a:t>
            </a:r>
          </a:p>
          <a:p>
            <a:pPr marL="0" indent="0">
              <a:buNone/>
            </a:pPr>
            <a:r>
              <a:rPr lang="en-US"/>
              <a:t>Results: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Tree-based UF ≈ 2–3× faster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List-based UF slows noticeably as n increases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Both remain correct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61865-7015-284E-2C14-A1F205A6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D26F7-8CE4-4AB1-B4BF-2B2353728FD7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1874-AE47-0CE8-2306-2A4B9551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05B5-1C3C-C7E8-9B48-0517DC48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 descr="A graph of different types of workloads&#10;&#10;AI-generated content may be incorrect.">
            <a:extLst>
              <a:ext uri="{FF2B5EF4-FFF2-40B4-BE49-F238E27FC236}">
                <a16:creationId xmlns:a16="http://schemas.microsoft.com/office/drawing/2014/main" id="{E19E55BC-D8BB-BF74-6A91-9DAA54F3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415" y="1710740"/>
            <a:ext cx="5479381" cy="36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2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4C20-4BAD-CA31-9204-11273E52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74831"/>
            <a:ext cx="9692640" cy="1325562"/>
          </a:xfrm>
        </p:spPr>
        <p:txBody>
          <a:bodyPr/>
          <a:lstStyle/>
          <a:p>
            <a:r>
              <a:rPr lang="en-US"/>
              <a:t>Interpretation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6E56-C689-02F9-6286-B3277236E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37871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the experiments taught us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Tree-Based UF is effectively constant time under all tested </a:t>
            </a:r>
            <a:r>
              <a:rPr lang="en-US" err="1"/>
              <a:t>workloadds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List-Based UF grows nearly exactly as theoretical analysis predicts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Path compression is the most important optimization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Union-by-rank vs union-by-size shows minimal differences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Empirical results line up extremely well with theory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E7336-CFA5-1316-0D21-38034C1E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7481-9075-4050-AD8D-DEF819DE97B1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3FFD-1A85-CBD0-8872-8F7243B8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637C4-9FF1-6143-D896-3248DE31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3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21A0-9B5D-42AB-A122-32D7AC2A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5" y="365760"/>
            <a:ext cx="9692640" cy="1325562"/>
          </a:xfrm>
        </p:spPr>
        <p:txBody>
          <a:bodyPr/>
          <a:lstStyle/>
          <a:p>
            <a:r>
              <a:rPr lang="en-US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C204-3193-591A-766B-E269366D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515" y="182880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Limitations: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Python overhead affects timings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No memory usage profiling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Adversarial pointer updates incomplete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Only one application benchmark tested</a:t>
            </a:r>
          </a:p>
          <a:p>
            <a:pPr marL="0" indent="0">
              <a:buNone/>
            </a:pPr>
            <a:r>
              <a:rPr lang="en-US"/>
              <a:t>Future Work: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Implement different language versions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Add memory tracking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Evaluate more heuristics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/>
              <a:t>Larger-scale experiments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C85A1-A2CD-D747-603B-D476551E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D7C3-2747-4D85-8217-078F141FD1D9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0EBF-D76B-84D3-2EC7-2B3F2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C1CD-CCE0-A142-99D3-20042E78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55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9C42-0FB4-8630-72FA-4439FD04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72" y="347617"/>
            <a:ext cx="9692640" cy="1325562"/>
          </a:xfrm>
        </p:spPr>
        <p:txBody>
          <a:bodyPr/>
          <a:lstStyle/>
          <a:p>
            <a:r>
              <a:rPr lang="en-US"/>
              <a:t>Contributions 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7860-6379-20A7-4E7E-4207A62B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72" y="1810657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John Sutton</a:t>
            </a:r>
            <a:r>
              <a:rPr lang="en-US"/>
              <a:t> – </a:t>
            </a:r>
            <a:r>
              <a:rPr lang="en-US" sz="1800"/>
              <a:t>Produced graphs in R, interpreted results, prepared the final report and presentation.</a:t>
            </a:r>
            <a:endParaRPr lang="en-US"/>
          </a:p>
          <a:p>
            <a:pPr marL="0" indent="0">
              <a:buNone/>
            </a:pPr>
            <a:r>
              <a:rPr lang="en-US" sz="1800"/>
              <a:t>Nolan Schiek – Interpreted results and findings, prepared the final report and presentation</a:t>
            </a:r>
          </a:p>
          <a:p>
            <a:pPr marL="0" indent="0">
              <a:buNone/>
            </a:pPr>
            <a:r>
              <a:rPr lang="en-US" sz="1800"/>
              <a:t>Sawyer </a:t>
            </a:r>
            <a:r>
              <a:rPr lang="en-US" sz="1800" err="1"/>
              <a:t>Blanchford</a:t>
            </a:r>
            <a:r>
              <a:rPr lang="en-US" sz="1800"/>
              <a:t> - Produced code for experiments in Python, assisted in final report preparation</a:t>
            </a:r>
          </a:p>
          <a:p>
            <a:pPr marL="0" indent="0">
              <a:buNone/>
            </a:pPr>
            <a:r>
              <a:rPr lang="en-US" sz="1800"/>
              <a:t>Robert Morris – Assisted in production of final report.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3CD8D-7F0C-DCE2-5B19-015BFAE8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DEFB-5828-4EBB-88C7-7696CD26A6FA}" type="datetime1"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983E5-4B65-30F0-300C-F3062E51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1D16-8822-306A-7F6A-FD3F0914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724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View</vt:lpstr>
      <vt:lpstr>Empirical Analysis of Union-Find Structures</vt:lpstr>
      <vt:lpstr>Motivation</vt:lpstr>
      <vt:lpstr>Project Goal</vt:lpstr>
      <vt:lpstr>Union-Find: The Operations</vt:lpstr>
      <vt:lpstr>List-Based Union-Find</vt:lpstr>
      <vt:lpstr>Tree-Based Union-Find</vt:lpstr>
      <vt:lpstr>Experiment Design</vt:lpstr>
      <vt:lpstr>Runtime Results</vt:lpstr>
      <vt:lpstr>Pointer Update Results</vt:lpstr>
      <vt:lpstr>Adversarial Behavior</vt:lpstr>
      <vt:lpstr>Application Benchmark: G(n, p)</vt:lpstr>
      <vt:lpstr>Interpretation &amp; Takeaways</vt:lpstr>
      <vt:lpstr>Limitations &amp; Future Work</vt:lpstr>
      <vt:lpstr>Contributions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Sawyer Blanchford</dc:creator>
  <cp:revision>59</cp:revision>
  <dcterms:created xsi:type="dcterms:W3CDTF">2025-11-30T14:11:41Z</dcterms:created>
  <dcterms:modified xsi:type="dcterms:W3CDTF">2025-12-01T14:46:45Z</dcterms:modified>
</cp:coreProperties>
</file>